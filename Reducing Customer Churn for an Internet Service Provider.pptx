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C794F5D-DECB-4A3A-AC64-A955595C2692}">
          <p14:sldIdLst>
            <p14:sldId id="256"/>
          </p14:sldIdLst>
        </p14:section>
        <p14:section name="Раздел без заголовка" id="{7E4A4FF3-A2CC-4F2C-8EA7-04B6E1D0CE2E}">
          <p14:sldIdLst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39E"/>
    <a:srgbClr val="1162D8"/>
    <a:srgbClr val="1160D6"/>
    <a:srgbClr val="115CD2"/>
    <a:srgbClr val="1244BC"/>
    <a:srgbClr val="1239B2"/>
    <a:srgbClr val="118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30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18DFF"/>
            </a:gs>
            <a:gs pos="96000">
              <a:srgbClr val="12239E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datasets/aadityabansalcodes/telecommunications-industry-customer-churn-dataset?utm_source=chatgpt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трелка: пятиугольник 4">
            <a:extLst>
              <a:ext uri="{FF2B5EF4-FFF2-40B4-BE49-F238E27FC236}">
                <a16:creationId xmlns:a16="http://schemas.microsoft.com/office/drawing/2014/main" id="{A1E299CD-1543-46D4-873C-F8692CA3E2B5}"/>
              </a:ext>
            </a:extLst>
          </p:cNvPr>
          <p:cNvSpPr/>
          <p:nvPr/>
        </p:nvSpPr>
        <p:spPr>
          <a:xfrm>
            <a:off x="684212" y="3278222"/>
            <a:ext cx="5319424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0FEBD-9255-44DC-82D1-430E174E2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3278221"/>
            <a:ext cx="4691352" cy="379379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Reducing Customer Churn for an TELCOM</a:t>
            </a:r>
            <a:endParaRPr lang="pt-PT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A06BF5-136A-4873-8C3C-9BBCE4E73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774332"/>
            <a:ext cx="920852" cy="379380"/>
          </a:xfrm>
        </p:spPr>
        <p:txBody>
          <a:bodyPr/>
          <a:lstStyle/>
          <a:p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link</a:t>
            </a:r>
            <a:endParaRPr lang="pt-PT" dirty="0"/>
          </a:p>
        </p:txBody>
      </p:sp>
      <p:sp>
        <p:nvSpPr>
          <p:cNvPr id="20" name="Заголовок 3">
            <a:extLst>
              <a:ext uri="{FF2B5EF4-FFF2-40B4-BE49-F238E27FC236}">
                <a16:creationId xmlns:a16="http://schemas.microsoft.com/office/drawing/2014/main" id="{3073E047-0987-4DB1-B515-7C04E8453821}"/>
              </a:ext>
            </a:extLst>
          </p:cNvPr>
          <p:cNvSpPr txBox="1">
            <a:spLocks/>
          </p:cNvSpPr>
          <p:nvPr/>
        </p:nvSpPr>
        <p:spPr>
          <a:xfrm>
            <a:off x="-12289378" y="387885"/>
            <a:ext cx="11929292" cy="975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highest risk of churn is concentrated among single retirees with no dependents (Senior Citizen = Yes, Married = No, Dependents = No) </a:t>
            </a:r>
            <a:r>
              <a:rPr kumimoji="0" lang="en-US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 churn rate reaches 48.9%. At the same time, non-retired customers with children demonstrate the highest loyalty, with a churn rate of just 3.5%.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E3E457EB-6E02-4DCE-A8EE-3CA917176702}"/>
              </a:ext>
            </a:extLst>
          </p:cNvPr>
          <p:cNvGrpSpPr/>
          <p:nvPr/>
        </p:nvGrpSpPr>
        <p:grpSpPr>
          <a:xfrm>
            <a:off x="-9655836" y="1349314"/>
            <a:ext cx="8996091" cy="5333313"/>
            <a:chOff x="-9655836" y="1349314"/>
            <a:chExt cx="8996091" cy="5333313"/>
          </a:xfrm>
        </p:grpSpPr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BDC72F46-698E-4628-AC63-9F5FDA652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589888" y="1415282"/>
              <a:ext cx="8864194" cy="5201376"/>
            </a:xfrm>
            <a:prstGeom prst="rect">
              <a:avLst/>
            </a:prstGeom>
          </p:spPr>
        </p:pic>
        <p:sp>
          <p:nvSpPr>
            <p:cNvPr id="27" name="Блок-схема: процесс 26">
              <a:extLst>
                <a:ext uri="{FF2B5EF4-FFF2-40B4-BE49-F238E27FC236}">
                  <a16:creationId xmlns:a16="http://schemas.microsoft.com/office/drawing/2014/main" id="{65D82028-EC6D-45DE-AF26-085BFD1C34A8}"/>
                </a:ext>
              </a:extLst>
            </p:cNvPr>
            <p:cNvSpPr/>
            <p:nvPr/>
          </p:nvSpPr>
          <p:spPr>
            <a:xfrm>
              <a:off x="-9655836" y="1349314"/>
              <a:ext cx="8996091" cy="5333313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765455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Стрелка: пятиугольник 31">
            <a:extLst>
              <a:ext uri="{FF2B5EF4-FFF2-40B4-BE49-F238E27FC236}">
                <a16:creationId xmlns:a16="http://schemas.microsoft.com/office/drawing/2014/main" id="{CF148DE7-4B77-4C40-B32A-53ECFC818B0F}"/>
              </a:ext>
            </a:extLst>
          </p:cNvPr>
          <p:cNvSpPr/>
          <p:nvPr/>
        </p:nvSpPr>
        <p:spPr>
          <a:xfrm>
            <a:off x="244235" y="146859"/>
            <a:ext cx="4096856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35" y="114877"/>
            <a:ext cx="3413365" cy="443344"/>
          </a:xfrm>
        </p:spPr>
        <p:txBody>
          <a:bodyPr/>
          <a:lstStyle/>
          <a:p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Demographic churn</a:t>
            </a:r>
            <a:r>
              <a:rPr lang="pt-PT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portrait</a:t>
            </a:r>
            <a:endParaRPr lang="pt-PT" dirty="0"/>
          </a:p>
        </p:txBody>
      </p:sp>
      <p:sp>
        <p:nvSpPr>
          <p:cNvPr id="23" name="Заголовок 3">
            <a:extLst>
              <a:ext uri="{FF2B5EF4-FFF2-40B4-BE49-F238E27FC236}">
                <a16:creationId xmlns:a16="http://schemas.microsoft.com/office/drawing/2014/main" id="{199715DF-17DF-4932-8138-6984C8FD423B}"/>
              </a:ext>
            </a:extLst>
          </p:cNvPr>
          <p:cNvSpPr txBox="1">
            <a:spLocks/>
          </p:cNvSpPr>
          <p:nvPr/>
        </p:nvSpPr>
        <p:spPr>
          <a:xfrm>
            <a:off x="244235" y="454517"/>
            <a:ext cx="11929292" cy="975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highest risk of churn is concentrated among single retirees with no dependents (Senior Citizen = Yes, Married = No, Dependents = No) </a:t>
            </a:r>
            <a:r>
              <a:rPr kumimoji="0" lang="en-US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 churn rate reaches 48.9%. At the same time, non-retired customers with children demonstrate the highest loyalty, with a churn rate of just 3.5%.</a:t>
            </a:r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44D3FE37-CE38-4299-92F9-8AF96DE1F63C}"/>
              </a:ext>
            </a:extLst>
          </p:cNvPr>
          <p:cNvSpPr txBox="1">
            <a:spLocks/>
          </p:cNvSpPr>
          <p:nvPr/>
        </p:nvSpPr>
        <p:spPr>
          <a:xfrm>
            <a:off x="-11929292" y="558221"/>
            <a:ext cx="11929292" cy="8781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Fiber-optic connections have the highest churn rate </a:t>
            </a:r>
            <a:r>
              <a:rPr lang="en-US" altLang="pt-PT" sz="1400" cap="none" dirty="0">
                <a:ln>
                  <a:noFill/>
                </a:ln>
                <a:latin typeface="Arial" panose="020B0604020202020204" pitchFamily="34" charset="0"/>
              </a:rPr>
              <a:t>-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41%. This is more than twice as high as that of DSL users (19%).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problem most likely lies in the cost of fiber-optic plans, the stability of the fiber-optic connection, or the quality of service for this type of internet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cap="none" dirty="0">
                <a:ln>
                  <a:noFill/>
                </a:ln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1DC549B-417C-44C4-A028-15D3009392A1}"/>
              </a:ext>
            </a:extLst>
          </p:cNvPr>
          <p:cNvGrpSpPr/>
          <p:nvPr/>
        </p:nvGrpSpPr>
        <p:grpSpPr>
          <a:xfrm>
            <a:off x="1609064" y="1349314"/>
            <a:ext cx="8996091" cy="5333313"/>
            <a:chOff x="1609064" y="1349314"/>
            <a:chExt cx="8996091" cy="5333313"/>
          </a:xfrm>
        </p:grpSpPr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12A85FE4-0A8A-4AC7-A085-FFD7E1F21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5012" y="1415282"/>
              <a:ext cx="8864194" cy="5201376"/>
            </a:xfrm>
            <a:prstGeom prst="rect">
              <a:avLst/>
            </a:prstGeom>
          </p:spPr>
        </p:pic>
        <p:sp>
          <p:nvSpPr>
            <p:cNvPr id="2" name="Блок-схема: процесс 1">
              <a:extLst>
                <a:ext uri="{FF2B5EF4-FFF2-40B4-BE49-F238E27FC236}">
                  <a16:creationId xmlns:a16="http://schemas.microsoft.com/office/drawing/2014/main" id="{0AE97A1F-B2CC-4E52-B716-C7D0794BC05A}"/>
                </a:ext>
              </a:extLst>
            </p:cNvPr>
            <p:cNvSpPr/>
            <p:nvPr/>
          </p:nvSpPr>
          <p:spPr>
            <a:xfrm>
              <a:off x="1609064" y="1349314"/>
              <a:ext cx="8996091" cy="5333313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2933AB3-7B92-4E9D-80DD-EF38815F8910}"/>
              </a:ext>
            </a:extLst>
          </p:cNvPr>
          <p:cNvGrpSpPr/>
          <p:nvPr/>
        </p:nvGrpSpPr>
        <p:grpSpPr>
          <a:xfrm>
            <a:off x="-10723924" y="1415282"/>
            <a:ext cx="9223982" cy="5476061"/>
            <a:chOff x="-10723924" y="1415282"/>
            <a:chExt cx="9223982" cy="5476061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06722B59-6050-4ECB-BD42-13775AD48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655915" y="1486656"/>
              <a:ext cx="9087964" cy="5333313"/>
            </a:xfrm>
            <a:prstGeom prst="rect">
              <a:avLst/>
            </a:prstGeom>
          </p:spPr>
        </p:pic>
        <p:sp>
          <p:nvSpPr>
            <p:cNvPr id="12" name="Блок-схема: процесс 11">
              <a:extLst>
                <a:ext uri="{FF2B5EF4-FFF2-40B4-BE49-F238E27FC236}">
                  <a16:creationId xmlns:a16="http://schemas.microsoft.com/office/drawing/2014/main" id="{44AD6EBE-9F1C-4EB1-AFB0-7E20F6FC9C0A}"/>
                </a:ext>
              </a:extLst>
            </p:cNvPr>
            <p:cNvSpPr/>
            <p:nvPr/>
          </p:nvSpPr>
          <p:spPr>
            <a:xfrm>
              <a:off x="-10723924" y="1415282"/>
              <a:ext cx="9223982" cy="5476061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887477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трелка: пятиугольник 8">
            <a:extLst>
              <a:ext uri="{FF2B5EF4-FFF2-40B4-BE49-F238E27FC236}">
                <a16:creationId xmlns:a16="http://schemas.microsoft.com/office/drawing/2014/main" id="{2841D073-74FB-491A-A921-50420FA02380}"/>
              </a:ext>
            </a:extLst>
          </p:cNvPr>
          <p:cNvSpPr/>
          <p:nvPr/>
        </p:nvSpPr>
        <p:spPr>
          <a:xfrm>
            <a:off x="244235" y="146859"/>
            <a:ext cx="7819110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23" name="Заголовок 3">
            <a:extLst>
              <a:ext uri="{FF2B5EF4-FFF2-40B4-BE49-F238E27FC236}">
                <a16:creationId xmlns:a16="http://schemas.microsoft.com/office/drawing/2014/main" id="{199715DF-17DF-4932-8138-6984C8FD423B}"/>
              </a:ext>
            </a:extLst>
          </p:cNvPr>
          <p:cNvSpPr txBox="1">
            <a:spLocks/>
          </p:cNvSpPr>
          <p:nvPr/>
        </p:nvSpPr>
        <p:spPr>
          <a:xfrm>
            <a:off x="244235" y="500479"/>
            <a:ext cx="11929292" cy="8781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Fiber-optic connections have the highest churn rate </a:t>
            </a:r>
            <a:r>
              <a:rPr lang="en-US" altLang="pt-PT" sz="1400" cap="none" dirty="0">
                <a:ln>
                  <a:noFill/>
                </a:ln>
                <a:latin typeface="Arial" panose="020B0604020202020204" pitchFamily="34" charset="0"/>
              </a:rPr>
              <a:t>-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41%. This is more than twice as high as that of DSL users (19%).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problem most likely lies in the cost of fiber-optic plans, the stability of the fiber-optic connection, or the quality of service for this type of internet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cap="none" dirty="0">
                <a:ln>
                  <a:noFill/>
                </a:ln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35" y="114877"/>
            <a:ext cx="7346736" cy="443344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Analysis of the Product Portfolio and Service Quality: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INTERNET</a:t>
            </a:r>
            <a:endParaRPr lang="pt-PT" b="1" dirty="0"/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58C445CF-7142-47B7-A160-EB0E586B997B}"/>
              </a:ext>
            </a:extLst>
          </p:cNvPr>
          <p:cNvSpPr txBox="1">
            <a:spLocks/>
          </p:cNvSpPr>
          <p:nvPr/>
        </p:nvSpPr>
        <p:spPr>
          <a:xfrm>
            <a:off x="-11910819" y="621530"/>
            <a:ext cx="11929292" cy="55073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availability of the Online Security add-on service reduces customer churn by more than half—from 31.3% to 14.6%.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1A5B02C-7240-4271-930C-F77605C8EFD5}"/>
              </a:ext>
            </a:extLst>
          </p:cNvPr>
          <p:cNvGrpSpPr/>
          <p:nvPr/>
        </p:nvGrpSpPr>
        <p:grpSpPr>
          <a:xfrm>
            <a:off x="1656405" y="1394570"/>
            <a:ext cx="8879191" cy="5271367"/>
            <a:chOff x="1656405" y="1394570"/>
            <a:chExt cx="8879191" cy="5271367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8A790D48-D308-4C60-8122-9D204985F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1872" y="1460609"/>
              <a:ext cx="8748257" cy="5133954"/>
            </a:xfrm>
            <a:prstGeom prst="rect">
              <a:avLst/>
            </a:prstGeom>
          </p:spPr>
        </p:pic>
        <p:sp>
          <p:nvSpPr>
            <p:cNvPr id="12" name="Блок-схема: процесс 11">
              <a:extLst>
                <a:ext uri="{FF2B5EF4-FFF2-40B4-BE49-F238E27FC236}">
                  <a16:creationId xmlns:a16="http://schemas.microsoft.com/office/drawing/2014/main" id="{87C2339C-DC27-4440-881B-CB65B82AACCC}"/>
                </a:ext>
              </a:extLst>
            </p:cNvPr>
            <p:cNvSpPr/>
            <p:nvPr/>
          </p:nvSpPr>
          <p:spPr>
            <a:xfrm>
              <a:off x="1656405" y="1394570"/>
              <a:ext cx="8879191" cy="5271367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AEE19B2-B3C9-4A56-BC67-2931D02A2C85}"/>
              </a:ext>
            </a:extLst>
          </p:cNvPr>
          <p:cNvGrpSpPr/>
          <p:nvPr/>
        </p:nvGrpSpPr>
        <p:grpSpPr>
          <a:xfrm>
            <a:off x="-11743632" y="1323197"/>
            <a:ext cx="11629332" cy="4696604"/>
            <a:chOff x="-11743632" y="1323197"/>
            <a:chExt cx="11629332" cy="4696604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7A1ECA8F-C92F-4993-AA3E-AD5F8FF6C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1660958" y="1418522"/>
              <a:ext cx="11463984" cy="4505954"/>
            </a:xfrm>
            <a:prstGeom prst="rect">
              <a:avLst/>
            </a:prstGeom>
          </p:spPr>
        </p:pic>
        <p:sp>
          <p:nvSpPr>
            <p:cNvPr id="13" name="Блок-схема: процесс 12">
              <a:extLst>
                <a:ext uri="{FF2B5EF4-FFF2-40B4-BE49-F238E27FC236}">
                  <a16:creationId xmlns:a16="http://schemas.microsoft.com/office/drawing/2014/main" id="{57806168-834A-41DE-B340-A2B38DE16DF1}"/>
                </a:ext>
              </a:extLst>
            </p:cNvPr>
            <p:cNvSpPr/>
            <p:nvPr/>
          </p:nvSpPr>
          <p:spPr>
            <a:xfrm>
              <a:off x="-11743632" y="1323197"/>
              <a:ext cx="11629332" cy="4696604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846454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4" y="146859"/>
            <a:ext cx="8534399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23" name="Заголовок 3">
            <a:extLst>
              <a:ext uri="{FF2B5EF4-FFF2-40B4-BE49-F238E27FC236}">
                <a16:creationId xmlns:a16="http://schemas.microsoft.com/office/drawing/2014/main" id="{199715DF-17DF-4932-8138-6984C8FD423B}"/>
              </a:ext>
            </a:extLst>
          </p:cNvPr>
          <p:cNvSpPr txBox="1">
            <a:spLocks/>
          </p:cNvSpPr>
          <p:nvPr/>
        </p:nvSpPr>
        <p:spPr>
          <a:xfrm>
            <a:off x="262708" y="558222"/>
            <a:ext cx="11929292" cy="55073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availability of the Online Security add-on service reduces customer churn by more than half—from 31.3% to 14.6%.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35" y="114877"/>
            <a:ext cx="8534400" cy="443344"/>
          </a:xfrm>
        </p:spPr>
        <p:txBody>
          <a:bodyPr>
            <a:no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of the Product Portfolio and Service Quality: 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SECURITY </a:t>
            </a:r>
            <a:endParaRPr lang="pt-P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DA7F65F2-1500-4699-9870-5B4667296A24}"/>
              </a:ext>
            </a:extLst>
          </p:cNvPr>
          <p:cNvSpPr txBox="1">
            <a:spLocks/>
          </p:cNvSpPr>
          <p:nvPr/>
        </p:nvSpPr>
        <p:spPr>
          <a:xfrm>
            <a:off x="-7701121" y="597423"/>
            <a:ext cx="5314888" cy="55073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 WITHOUT the service: 31.19%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 WITH the service: 15.17% (churn is less than half!)</a:t>
            </a: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D4135B3-A2BC-4EFE-94D4-68933D40D36B}"/>
              </a:ext>
            </a:extLst>
          </p:cNvPr>
          <p:cNvGrpSpPr/>
          <p:nvPr/>
        </p:nvGrpSpPr>
        <p:grpSpPr>
          <a:xfrm>
            <a:off x="281334" y="1361297"/>
            <a:ext cx="11629332" cy="4696604"/>
            <a:chOff x="281334" y="1361297"/>
            <a:chExt cx="11629332" cy="4696604"/>
          </a:xfrm>
        </p:grpSpPr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34E12B2D-7466-4E8A-839F-87D3E9BB9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008" y="1456622"/>
              <a:ext cx="11463984" cy="4505954"/>
            </a:xfrm>
            <a:prstGeom prst="rect">
              <a:avLst/>
            </a:prstGeom>
          </p:spPr>
        </p:pic>
        <p:sp>
          <p:nvSpPr>
            <p:cNvPr id="9" name="Блок-схема: процесс 8">
              <a:extLst>
                <a:ext uri="{FF2B5EF4-FFF2-40B4-BE49-F238E27FC236}">
                  <a16:creationId xmlns:a16="http://schemas.microsoft.com/office/drawing/2014/main" id="{3F9C0D63-DB20-4380-AD87-20D60EFBE1DB}"/>
                </a:ext>
              </a:extLst>
            </p:cNvPr>
            <p:cNvSpPr/>
            <p:nvPr/>
          </p:nvSpPr>
          <p:spPr>
            <a:xfrm>
              <a:off x="281334" y="1361297"/>
              <a:ext cx="11629332" cy="4696604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F1197C5-5DEF-4A84-8FFE-3D9D0FFD8A45}"/>
              </a:ext>
            </a:extLst>
          </p:cNvPr>
          <p:cNvGrpSpPr/>
          <p:nvPr/>
        </p:nvGrpSpPr>
        <p:grpSpPr>
          <a:xfrm>
            <a:off x="-10153755" y="1198956"/>
            <a:ext cx="9972000" cy="5271642"/>
            <a:chOff x="-10153755" y="1198956"/>
            <a:chExt cx="9972000" cy="527164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DEF3D9F9-E5E7-40AA-B345-EEEB974EA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083341" y="1281721"/>
              <a:ext cx="9831172" cy="5106113"/>
            </a:xfrm>
            <a:prstGeom prst="rect">
              <a:avLst/>
            </a:prstGeom>
          </p:spPr>
        </p:pic>
        <p:sp>
          <p:nvSpPr>
            <p:cNvPr id="10" name="Блок-схема: процесс 9">
              <a:extLst>
                <a:ext uri="{FF2B5EF4-FFF2-40B4-BE49-F238E27FC236}">
                  <a16:creationId xmlns:a16="http://schemas.microsoft.com/office/drawing/2014/main" id="{D3F72D39-7655-46D1-A619-CFB86FB79060}"/>
                </a:ext>
              </a:extLst>
            </p:cNvPr>
            <p:cNvSpPr/>
            <p:nvPr/>
          </p:nvSpPr>
          <p:spPr>
            <a:xfrm>
              <a:off x="-10153755" y="1198956"/>
              <a:ext cx="9972000" cy="5271642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489165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4" y="146859"/>
            <a:ext cx="9415331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23" name="Заголовок 3">
            <a:extLst>
              <a:ext uri="{FF2B5EF4-FFF2-40B4-BE49-F238E27FC236}">
                <a16:creationId xmlns:a16="http://schemas.microsoft.com/office/drawing/2014/main" id="{199715DF-17DF-4932-8138-6984C8FD423B}"/>
              </a:ext>
            </a:extLst>
          </p:cNvPr>
          <p:cNvSpPr txBox="1">
            <a:spLocks/>
          </p:cNvSpPr>
          <p:nvPr/>
        </p:nvSpPr>
        <p:spPr>
          <a:xfrm>
            <a:off x="262708" y="597134"/>
            <a:ext cx="11929292" cy="55073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 WITHOUT the service: 31.19%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 WITH the service: 15.17% (churn is less than half!)</a:t>
            </a: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35" y="146859"/>
            <a:ext cx="8957822" cy="379379"/>
          </a:xfrm>
        </p:spPr>
        <p:txBody>
          <a:bodyPr>
            <a:no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of the Product Portfolio and Service Quality: 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TECH SUPPORT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P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55EB572B-7000-4A7C-811B-C38A747BB70A}"/>
              </a:ext>
            </a:extLst>
          </p:cNvPr>
          <p:cNvSpPr txBox="1">
            <a:spLocks/>
          </p:cNvSpPr>
          <p:nvPr/>
        </p:nvSpPr>
        <p:spPr>
          <a:xfrm>
            <a:off x="-8549292" y="692056"/>
            <a:ext cx="8234372" cy="113630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contract type is the main driver of customer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 Customers on a monthly payment plan churn in 45.8% of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 Switching a customer to a 1-year contract reduces the risk of churn by a factor of 4.3 (to 10.7%).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 A 2-year contract virtually eliminates churn (2.6%).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A847423-7F23-4C10-809E-53C4A7099AA2}"/>
              </a:ext>
            </a:extLst>
          </p:cNvPr>
          <p:cNvGrpSpPr/>
          <p:nvPr/>
        </p:nvGrpSpPr>
        <p:grpSpPr>
          <a:xfrm>
            <a:off x="-9094745" y="1741717"/>
            <a:ext cx="8784000" cy="5148000"/>
            <a:chOff x="-9094745" y="1741717"/>
            <a:chExt cx="8784000" cy="514800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37BC084-CBCA-41E2-A02C-8659D5816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9014621" y="1828365"/>
              <a:ext cx="8623752" cy="4974705"/>
            </a:xfrm>
            <a:prstGeom prst="rect">
              <a:avLst/>
            </a:prstGeom>
          </p:spPr>
        </p:pic>
        <p:sp>
          <p:nvSpPr>
            <p:cNvPr id="10" name="Блок-схема: процесс 9">
              <a:extLst>
                <a:ext uri="{FF2B5EF4-FFF2-40B4-BE49-F238E27FC236}">
                  <a16:creationId xmlns:a16="http://schemas.microsoft.com/office/drawing/2014/main" id="{8A8B155D-00AC-4E94-BEF2-1A7C4B39F133}"/>
                </a:ext>
              </a:extLst>
            </p:cNvPr>
            <p:cNvSpPr/>
            <p:nvPr/>
          </p:nvSpPr>
          <p:spPr>
            <a:xfrm>
              <a:off x="-9094745" y="1741717"/>
              <a:ext cx="8784000" cy="51480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82EF370-62C1-402F-8D5A-C68EB9D12C02}"/>
              </a:ext>
            </a:extLst>
          </p:cNvPr>
          <p:cNvGrpSpPr/>
          <p:nvPr/>
        </p:nvGrpSpPr>
        <p:grpSpPr>
          <a:xfrm>
            <a:off x="1110000" y="1281168"/>
            <a:ext cx="9972000" cy="5271642"/>
            <a:chOff x="1110000" y="1281168"/>
            <a:chExt cx="9972000" cy="5271642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E75E9FB5-6C61-4B7A-8BF9-28FAFF08B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0414" y="1363933"/>
              <a:ext cx="9831172" cy="5106113"/>
            </a:xfrm>
            <a:prstGeom prst="rect">
              <a:avLst/>
            </a:prstGeom>
          </p:spPr>
        </p:pic>
        <p:sp>
          <p:nvSpPr>
            <p:cNvPr id="11" name="Блок-схема: процесс 10">
              <a:extLst>
                <a:ext uri="{FF2B5EF4-FFF2-40B4-BE49-F238E27FC236}">
                  <a16:creationId xmlns:a16="http://schemas.microsoft.com/office/drawing/2014/main" id="{4B1A1931-C747-411F-AC8F-28B463E0F62C}"/>
                </a:ext>
              </a:extLst>
            </p:cNvPr>
            <p:cNvSpPr/>
            <p:nvPr/>
          </p:nvSpPr>
          <p:spPr>
            <a:xfrm>
              <a:off x="1110000" y="1281168"/>
              <a:ext cx="9972000" cy="5271642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111565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3" y="146859"/>
            <a:ext cx="5703985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23" name="Заголовок 3">
            <a:extLst>
              <a:ext uri="{FF2B5EF4-FFF2-40B4-BE49-F238E27FC236}">
                <a16:creationId xmlns:a16="http://schemas.microsoft.com/office/drawing/2014/main" id="{199715DF-17DF-4932-8138-6984C8FD423B}"/>
              </a:ext>
            </a:extLst>
          </p:cNvPr>
          <p:cNvSpPr txBox="1">
            <a:spLocks/>
          </p:cNvSpPr>
          <p:nvPr/>
        </p:nvSpPr>
        <p:spPr>
          <a:xfrm>
            <a:off x="244233" y="526236"/>
            <a:ext cx="11929292" cy="113630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contract type is the main driver of customer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 Customers on a monthly payment plan churn in 45.8% of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 Switching a customer to a 1-year contract reduces the risk of churn by a factor of 4.3 (to 10.7%).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 A 2-year contract virtually eliminates churn (2.6%).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08" y="146857"/>
            <a:ext cx="5136606" cy="379379"/>
          </a:xfrm>
        </p:spPr>
        <p:txBody>
          <a:bodyPr>
            <a:noAutofit/>
          </a:bodyPr>
          <a:lstStyle/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&amp;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 TYPE</a:t>
            </a:r>
            <a:endParaRPr lang="pt-PT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88F90D0-5C81-41AE-9105-D08928BD0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101326" y="708438"/>
            <a:ext cx="121013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payment method is directly correlated with churn: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highest churn rates are observed for payment by check (Mailed Check — 36.9%) and bank withdrawal (Bank Withdrawal — 34.0%).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Linking a credit card reduces churn by more than half—to 14.5%.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Recommendation: Implement automatic credit card payments as the preferred payment method (for example, offer a small bonus for linking a card).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A1705CB-C5FB-4DA2-9F4F-86EA8895CB84}"/>
              </a:ext>
            </a:extLst>
          </p:cNvPr>
          <p:cNvGrpSpPr/>
          <p:nvPr/>
        </p:nvGrpSpPr>
        <p:grpSpPr>
          <a:xfrm>
            <a:off x="-10669545" y="1666802"/>
            <a:ext cx="9083060" cy="5104800"/>
            <a:chOff x="-10669545" y="1666802"/>
            <a:chExt cx="9083060" cy="5104800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509E2556-5EF6-4ABB-8E64-E111745A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592192" y="1744650"/>
              <a:ext cx="8928355" cy="4949105"/>
            </a:xfrm>
            <a:prstGeom prst="rect">
              <a:avLst/>
            </a:prstGeom>
          </p:spPr>
        </p:pic>
        <p:sp>
          <p:nvSpPr>
            <p:cNvPr id="12" name="Блок-схема: процесс 11">
              <a:extLst>
                <a:ext uri="{FF2B5EF4-FFF2-40B4-BE49-F238E27FC236}">
                  <a16:creationId xmlns:a16="http://schemas.microsoft.com/office/drawing/2014/main" id="{1214F87F-FD73-49A7-872E-AE1306C98D2C}"/>
                </a:ext>
              </a:extLst>
            </p:cNvPr>
            <p:cNvSpPr/>
            <p:nvPr/>
          </p:nvSpPr>
          <p:spPr>
            <a:xfrm>
              <a:off x="-10669545" y="1666802"/>
              <a:ext cx="9083060" cy="51048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03D0BA5-91C9-4BA9-B843-5DB55936B9B3}"/>
              </a:ext>
            </a:extLst>
          </p:cNvPr>
          <p:cNvGrpSpPr/>
          <p:nvPr/>
        </p:nvGrpSpPr>
        <p:grpSpPr>
          <a:xfrm>
            <a:off x="1704000" y="1676399"/>
            <a:ext cx="8630340" cy="5057945"/>
            <a:chOff x="1704000" y="1662545"/>
            <a:chExt cx="8784000" cy="514800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AF69AC18-C235-4DAC-B019-A1BE55498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4124" y="1749193"/>
              <a:ext cx="8623752" cy="4974705"/>
            </a:xfrm>
            <a:prstGeom prst="rect">
              <a:avLst/>
            </a:prstGeom>
          </p:spPr>
        </p:pic>
        <p:sp>
          <p:nvSpPr>
            <p:cNvPr id="13" name="Блок-схема: процесс 12">
              <a:extLst>
                <a:ext uri="{FF2B5EF4-FFF2-40B4-BE49-F238E27FC236}">
                  <a16:creationId xmlns:a16="http://schemas.microsoft.com/office/drawing/2014/main" id="{853EE746-3DE2-4177-B6E1-4C95BD44BA6E}"/>
                </a:ext>
              </a:extLst>
            </p:cNvPr>
            <p:cNvSpPr/>
            <p:nvPr/>
          </p:nvSpPr>
          <p:spPr>
            <a:xfrm>
              <a:off x="1704000" y="1662545"/>
              <a:ext cx="8784000" cy="51480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114009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3" y="146859"/>
            <a:ext cx="5750167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08" y="242962"/>
            <a:ext cx="5223692" cy="187171"/>
          </a:xfrm>
        </p:spPr>
        <p:txBody>
          <a:bodyPr>
            <a:noAutofit/>
          </a:bodyPr>
          <a:lstStyle/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&amp;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PAYMENT METHOD</a:t>
            </a:r>
            <a:endParaRPr lang="pt-PT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FBACE0-82EA-44B8-B2E6-AE9A5AE9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33" y="603742"/>
            <a:ext cx="121013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payment method is directly correlated with churn: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The highest churn rates are observed for payment by check (Mailed Check — 36.9%) and bank withdrawal (Bank Withdrawal — 34.0%).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Linking a credit card reduces churn by more than half—to 14.5%.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Recommendation: Implement automatic credit card payments as the preferred payment method (for example, offer a small bonus for linking a card).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4D6977D-F9BE-4699-A0B0-A2FB26306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266714" y="711463"/>
            <a:ext cx="1072761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►The churn rate among customers with electronic bills (33.6%) is more than twice that of customers who receive paper bills (16.3%).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Electronic bills are more often chosen by users who are digitally savvy and less tied to a specific provider, as well as by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dirty="0"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high-tier plans (Fiber Optic). Paper bills are issued to customers who are more likely to remain with the provider long-term.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B41D860D-BEB7-455C-9E2E-4A4D30A89A77}"/>
              </a:ext>
            </a:extLst>
          </p:cNvPr>
          <p:cNvGrpSpPr/>
          <p:nvPr/>
        </p:nvGrpSpPr>
        <p:grpSpPr>
          <a:xfrm>
            <a:off x="1877831" y="1700940"/>
            <a:ext cx="8834130" cy="4964898"/>
            <a:chOff x="1877831" y="1700940"/>
            <a:chExt cx="8834130" cy="4964898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5E98B804-247B-4C86-9F97-4F136DEFC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3064" y="1776654"/>
              <a:ext cx="8683665" cy="4813470"/>
            </a:xfrm>
            <a:prstGeom prst="rect">
              <a:avLst/>
            </a:prstGeom>
          </p:spPr>
        </p:pic>
        <p:sp>
          <p:nvSpPr>
            <p:cNvPr id="13" name="Блок-схема: процесс 12">
              <a:extLst>
                <a:ext uri="{FF2B5EF4-FFF2-40B4-BE49-F238E27FC236}">
                  <a16:creationId xmlns:a16="http://schemas.microsoft.com/office/drawing/2014/main" id="{7AA713CD-9998-41C6-BFEA-80B2DE9D384E}"/>
                </a:ext>
              </a:extLst>
            </p:cNvPr>
            <p:cNvSpPr/>
            <p:nvPr/>
          </p:nvSpPr>
          <p:spPr>
            <a:xfrm>
              <a:off x="1877831" y="1700940"/>
              <a:ext cx="8834130" cy="4964898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2706632-7C11-4735-9D0C-51BF164F4AFE}"/>
              </a:ext>
            </a:extLst>
          </p:cNvPr>
          <p:cNvGrpSpPr/>
          <p:nvPr/>
        </p:nvGrpSpPr>
        <p:grpSpPr>
          <a:xfrm>
            <a:off x="-11918746" y="1632918"/>
            <a:ext cx="11646000" cy="4856400"/>
            <a:chOff x="-11918746" y="1632918"/>
            <a:chExt cx="11646000" cy="48564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B54D945D-C84C-4112-9679-E4AE78EE1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1844886" y="1722404"/>
              <a:ext cx="11498280" cy="4677428"/>
            </a:xfrm>
            <a:prstGeom prst="rect">
              <a:avLst/>
            </a:prstGeom>
          </p:spPr>
        </p:pic>
        <p:sp>
          <p:nvSpPr>
            <p:cNvPr id="16" name="Блок-схема: процесс 15">
              <a:extLst>
                <a:ext uri="{FF2B5EF4-FFF2-40B4-BE49-F238E27FC236}">
                  <a16:creationId xmlns:a16="http://schemas.microsoft.com/office/drawing/2014/main" id="{AC8A1D03-2412-423B-B02F-530BB5F2B4D0}"/>
                </a:ext>
              </a:extLst>
            </p:cNvPr>
            <p:cNvSpPr/>
            <p:nvPr/>
          </p:nvSpPr>
          <p:spPr>
            <a:xfrm>
              <a:off x="-11918746" y="1632918"/>
              <a:ext cx="11646000" cy="48564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834359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3" y="146859"/>
            <a:ext cx="5851767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08" y="242962"/>
            <a:ext cx="5426892" cy="193958"/>
          </a:xfrm>
        </p:spPr>
        <p:txBody>
          <a:bodyPr>
            <a:noAutofit/>
          </a:bodyPr>
          <a:lstStyle/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&amp;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PAPERLESS BILLING</a:t>
            </a:r>
            <a:endParaRPr lang="pt-PT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FBACE0-82EA-44B8-B2E6-AE9A5AE9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33" y="729936"/>
            <a:ext cx="1072761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►The churn rate among customers with electronic bills (33.6%) is more than twice that of customers who receive paper bills (16.3%).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Electronic bills are more often chosen by users who are digitally savvy and less tied to a specific provider, as well as by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dirty="0"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high-tier plans (Fiber Optic). Paper bills are issued to customers who are more likely to remain with the provider long-term.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7628923-EBD8-4120-9CE7-092EE4D2D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543307" y="837658"/>
            <a:ext cx="57983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Churned customers: The average check is $74.44 (median $79.65).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Retained customers: The average check is $62.98 (median $66.45).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CB2A9CE-69E1-4936-8F26-D8C897FAB04F}"/>
              </a:ext>
            </a:extLst>
          </p:cNvPr>
          <p:cNvGrpSpPr/>
          <p:nvPr/>
        </p:nvGrpSpPr>
        <p:grpSpPr>
          <a:xfrm>
            <a:off x="273000" y="1654166"/>
            <a:ext cx="11646000" cy="4856400"/>
            <a:chOff x="199140" y="1654166"/>
            <a:chExt cx="11646000" cy="485640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F3458DD-CFEB-4002-BEE3-7F2A42EBF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3000" y="1743652"/>
              <a:ext cx="11498280" cy="4677428"/>
            </a:xfrm>
            <a:prstGeom prst="rect">
              <a:avLst/>
            </a:prstGeom>
          </p:spPr>
        </p:pic>
        <p:sp>
          <p:nvSpPr>
            <p:cNvPr id="10" name="Блок-схема: процесс 9">
              <a:extLst>
                <a:ext uri="{FF2B5EF4-FFF2-40B4-BE49-F238E27FC236}">
                  <a16:creationId xmlns:a16="http://schemas.microsoft.com/office/drawing/2014/main" id="{F7A2E2D8-D124-410B-8F56-252028B9D99E}"/>
                </a:ext>
              </a:extLst>
            </p:cNvPr>
            <p:cNvSpPr/>
            <p:nvPr/>
          </p:nvSpPr>
          <p:spPr>
            <a:xfrm>
              <a:off x="199140" y="1654166"/>
              <a:ext cx="11646000" cy="48564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DB5350F-BD32-4B5B-BC2E-A3FCC0F48DC8}"/>
              </a:ext>
            </a:extLst>
          </p:cNvPr>
          <p:cNvGrpSpPr/>
          <p:nvPr/>
        </p:nvGrpSpPr>
        <p:grpSpPr>
          <a:xfrm>
            <a:off x="-11366500" y="1468600"/>
            <a:ext cx="11215388" cy="4446000"/>
            <a:chOff x="-11366500" y="1468600"/>
            <a:chExt cx="11215388" cy="4446000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1AFB548F-2BFA-4DE1-B584-27AB56C75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1290943" y="1545061"/>
              <a:ext cx="11064275" cy="4293078"/>
            </a:xfrm>
            <a:prstGeom prst="rect">
              <a:avLst/>
            </a:prstGeom>
          </p:spPr>
        </p:pic>
        <p:sp>
          <p:nvSpPr>
            <p:cNvPr id="11" name="Блок-схема: процесс 10">
              <a:extLst>
                <a:ext uri="{FF2B5EF4-FFF2-40B4-BE49-F238E27FC236}">
                  <a16:creationId xmlns:a16="http://schemas.microsoft.com/office/drawing/2014/main" id="{A36F570D-8FDE-46E2-9FEB-9712F97C7A5C}"/>
                </a:ext>
              </a:extLst>
            </p:cNvPr>
            <p:cNvSpPr/>
            <p:nvPr/>
          </p:nvSpPr>
          <p:spPr>
            <a:xfrm>
              <a:off x="-11366500" y="1468600"/>
              <a:ext cx="11215388" cy="44460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758677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2" y="146859"/>
            <a:ext cx="8290167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09" y="146859"/>
            <a:ext cx="7676606" cy="379379"/>
          </a:xfrm>
        </p:spPr>
        <p:txBody>
          <a:bodyPr>
            <a:noAutofit/>
          </a:bodyPr>
          <a:lstStyle/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&amp;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CHARGES (CHURNED VS STAYED)</a:t>
            </a:r>
            <a:endParaRPr lang="pt-PT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FBACE0-82EA-44B8-B2E6-AE9A5AE9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33" y="622341"/>
            <a:ext cx="57983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Churned customers: The average check is $74.44 (median $79.65).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Retained customers: The average check is $62.98 (median $66.45).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B43162A-3793-4AAE-9866-847AC363EC55}"/>
              </a:ext>
            </a:extLst>
          </p:cNvPr>
          <p:cNvGrpSpPr/>
          <p:nvPr/>
        </p:nvGrpSpPr>
        <p:grpSpPr>
          <a:xfrm>
            <a:off x="-11887200" y="2946399"/>
            <a:ext cx="11607799" cy="2413001"/>
            <a:chOff x="-11887200" y="2946399"/>
            <a:chExt cx="11607799" cy="2413001"/>
          </a:xfrm>
        </p:grpSpPr>
        <p:sp>
          <p:nvSpPr>
            <p:cNvPr id="22" name="Блок-схема: процесс 21">
              <a:extLst>
                <a:ext uri="{FF2B5EF4-FFF2-40B4-BE49-F238E27FC236}">
                  <a16:creationId xmlns:a16="http://schemas.microsoft.com/office/drawing/2014/main" id="{A2177625-160D-4EA1-AFB5-3FAB7E29F8E2}"/>
                </a:ext>
              </a:extLst>
            </p:cNvPr>
            <p:cNvSpPr/>
            <p:nvPr/>
          </p:nvSpPr>
          <p:spPr>
            <a:xfrm>
              <a:off x="-11887200" y="2946399"/>
              <a:ext cx="11607799" cy="2413001"/>
            </a:xfrm>
            <a:prstGeom prst="flowChartProcess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1822B9D9-2904-46B2-B07E-0B15F096C390}"/>
                </a:ext>
              </a:extLst>
            </p:cNvPr>
            <p:cNvGrpSpPr/>
            <p:nvPr/>
          </p:nvGrpSpPr>
          <p:grpSpPr>
            <a:xfrm>
              <a:off x="-11597947" y="3238499"/>
              <a:ext cx="11029292" cy="1828800"/>
              <a:chOff x="581354" y="3245231"/>
              <a:chExt cx="11029292" cy="1828800"/>
            </a:xfrm>
          </p:grpSpPr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F8E496E6-0375-45EA-82AC-C68F87C0E63D}"/>
                  </a:ext>
                </a:extLst>
              </p:cNvPr>
              <p:cNvSpPr/>
              <p:nvPr/>
            </p:nvSpPr>
            <p:spPr>
              <a:xfrm>
                <a:off x="581354" y="3245231"/>
                <a:ext cx="3500582" cy="1828800"/>
              </a:xfrm>
              <a:prstGeom prst="roundRect">
                <a:avLst/>
              </a:prstGeom>
              <a:solidFill>
                <a:srgbClr val="1223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824811FA-900D-40A8-8597-CA7E72808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931" y="3719198"/>
                <a:ext cx="2900218" cy="8617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Lost Revenue:</a:t>
                </a:r>
                <a:r>
                  <a:rPr kumimoji="0" lang="pt-PT" altLang="pt-P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$3 684 459.82</a:t>
                </a:r>
                <a:r>
                  <a:rPr kumimoji="0" lang="pt-PT" altLang="pt-PT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C5624931-1E06-471A-A23A-A20A657F8BE6}"/>
                  </a:ext>
                </a:extLst>
              </p:cNvPr>
              <p:cNvSpPr/>
              <p:nvPr/>
            </p:nvSpPr>
            <p:spPr>
              <a:xfrm>
                <a:off x="4345709" y="3245231"/>
                <a:ext cx="3500582" cy="1828800"/>
              </a:xfrm>
              <a:prstGeom prst="roundRect">
                <a:avLst/>
              </a:prstGeom>
              <a:solidFill>
                <a:srgbClr val="1223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1931FF5B-C6B3-4C2F-BE11-5F15C78AF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5709" y="3580698"/>
                <a:ext cx="3500582" cy="11387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ARR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(Annual Run Rate):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$1 669 570.20</a:t>
                </a:r>
                <a:r>
                  <a:rPr kumimoji="0" lang="pt-PT" altLang="pt-PT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8" name="Прямоугольник: скругленные углы 17">
                <a:extLst>
                  <a:ext uri="{FF2B5EF4-FFF2-40B4-BE49-F238E27FC236}">
                    <a16:creationId xmlns:a16="http://schemas.microsoft.com/office/drawing/2014/main" id="{0E60A3A3-C858-42D2-9D8B-EC87A1195276}"/>
                  </a:ext>
                </a:extLst>
              </p:cNvPr>
              <p:cNvSpPr/>
              <p:nvPr/>
            </p:nvSpPr>
            <p:spPr>
              <a:xfrm>
                <a:off x="8110064" y="3245231"/>
                <a:ext cx="3500582" cy="1828800"/>
              </a:xfrm>
              <a:prstGeom prst="roundRect">
                <a:avLst/>
              </a:prstGeom>
              <a:solidFill>
                <a:srgbClr val="1223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4">
                <a:extLst>
                  <a:ext uri="{FF2B5EF4-FFF2-40B4-BE49-F238E27FC236}">
                    <a16:creationId xmlns:a16="http://schemas.microsoft.com/office/drawing/2014/main" id="{C836982F-9D8A-4FE8-8546-3237EB6B1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3126" y="3580698"/>
                <a:ext cx="3433881" cy="11387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MRR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(Monthly Revenue):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$139 130.85</a:t>
                </a:r>
                <a:r>
                  <a:rPr kumimoji="0" lang="pt-PT" altLang="pt-PT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p:grpSp>
      </p:grpSp>
      <p:sp>
        <p:nvSpPr>
          <p:cNvPr id="21" name="Rectangle 1">
            <a:extLst>
              <a:ext uri="{FF2B5EF4-FFF2-40B4-BE49-F238E27FC236}">
                <a16:creationId xmlns:a16="http://schemas.microsoft.com/office/drawing/2014/main" id="{F419DAA4-1561-4C1C-8E1D-663AA1D79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107312" y="659063"/>
            <a:ext cx="119477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Every month, the company loses $139,100 in recurring revenue due to the churn of these 1,869 customers.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This is pure lost revenue that goes directly to competitors.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$1,669,570.20 per year (Lost Annual Run Rate)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Key point: If nothing changes, losing these customers costs the company nearly $1.67 million annually!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Why this analysis was conducted: Even if the retention strategy you’ve developed (for example, discounts for annual contracts or the inclusion  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dirty="0"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free technical support) helps retain at least 20%–30% of churning customers, the company will save between $330,000 and $500,000 per year.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Over the entire period of operation, lost customers have already generated $3.68 million.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These were LTV-generating customers (high average transaction value of $74.44) who used the services for a long time but at some point  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dirty="0"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encountered a problem (for example, with the quality of the fiber-optic service) and left.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FBA0510-9B91-4EF3-8CEC-D78AC9255FA0}"/>
              </a:ext>
            </a:extLst>
          </p:cNvPr>
          <p:cNvGrpSpPr/>
          <p:nvPr/>
        </p:nvGrpSpPr>
        <p:grpSpPr>
          <a:xfrm>
            <a:off x="488306" y="1509001"/>
            <a:ext cx="11215388" cy="4446000"/>
            <a:chOff x="359301" y="1509001"/>
            <a:chExt cx="11215388" cy="4446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B8AAD85-9994-4DDA-B200-F23D59723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858" y="1585462"/>
              <a:ext cx="11064275" cy="4293078"/>
            </a:xfrm>
            <a:prstGeom prst="rect">
              <a:avLst/>
            </a:prstGeom>
          </p:spPr>
        </p:pic>
        <p:sp>
          <p:nvSpPr>
            <p:cNvPr id="23" name="Блок-схема: процесс 22">
              <a:extLst>
                <a:ext uri="{FF2B5EF4-FFF2-40B4-BE49-F238E27FC236}">
                  <a16:creationId xmlns:a16="http://schemas.microsoft.com/office/drawing/2014/main" id="{6613D373-1822-4AE6-AF69-264FD1049E4D}"/>
                </a:ext>
              </a:extLst>
            </p:cNvPr>
            <p:cNvSpPr/>
            <p:nvPr/>
          </p:nvSpPr>
          <p:spPr>
            <a:xfrm>
              <a:off x="359301" y="1509001"/>
              <a:ext cx="11215388" cy="444600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2242153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BAB6BC72-2F21-43AE-A331-E40FB53AD6ED}"/>
              </a:ext>
            </a:extLst>
          </p:cNvPr>
          <p:cNvSpPr txBox="1">
            <a:spLocks/>
          </p:cNvSpPr>
          <p:nvPr/>
        </p:nvSpPr>
        <p:spPr>
          <a:xfrm>
            <a:off x="262708" y="139276"/>
            <a:ext cx="3811588" cy="37937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</a:t>
            </a:r>
          </a:p>
        </p:txBody>
      </p:sp>
      <p:sp>
        <p:nvSpPr>
          <p:cNvPr id="15" name="Стрелка: пятиугольник 14">
            <a:extLst>
              <a:ext uri="{FF2B5EF4-FFF2-40B4-BE49-F238E27FC236}">
                <a16:creationId xmlns:a16="http://schemas.microsoft.com/office/drawing/2014/main" id="{10C05FAF-45DA-4880-ACFA-1BF09F31E6B0}"/>
              </a:ext>
            </a:extLst>
          </p:cNvPr>
          <p:cNvSpPr/>
          <p:nvPr/>
        </p:nvSpPr>
        <p:spPr>
          <a:xfrm>
            <a:off x="244234" y="146859"/>
            <a:ext cx="6424422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FBACE0-82EA-44B8-B2E6-AE9A5AE9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33" y="676591"/>
            <a:ext cx="119477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Every month, the company loses $139,100 in recurring revenue due to the churn of these 1,869 customers.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This is pure lost revenue that goes directly to competitors.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$1,669,570.20 per year (Lost Annual Run Rate)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Key point: If nothing changes, losing these customers costs the company nearly $1.67 million annually!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Why this analysis was conducted: Even if the retention strategy you’ve developed (for example, discounts for annual contracts or the inclusion  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dirty="0"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free technical support) helps retain at least 20%–30% of churning customers, the company will save between $330,000 and $500,000 per year.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► Over the entire period of operation, lost customers have already generated $3.68 million.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These were LTV-generating customers (high average transaction value of $74.44) who used the services for a long time but at some point  </a:t>
            </a:r>
          </a:p>
          <a:p>
            <a:pPr marR="0" lvl="0" algn="l" defTabSz="1793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PT" sz="1400" dirty="0">
                <a:latin typeface="Arial" panose="020B0604020202020204" pitchFamily="34" charset="0"/>
              </a:rPr>
              <a:t>    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encountered a problem (for example, with the quality of the fiber-optic service) and left.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5EBA47-6B3D-47D5-8461-ACB4A0F3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08" y="139276"/>
            <a:ext cx="5615578" cy="379379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AMOUNTS OF FINANCIAL LOSSES (LOST REVENUE)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7CAEAA34-9223-4A9E-B834-14D6571D2C4B}"/>
              </a:ext>
            </a:extLst>
          </p:cNvPr>
          <p:cNvGrpSpPr/>
          <p:nvPr/>
        </p:nvGrpSpPr>
        <p:grpSpPr>
          <a:xfrm>
            <a:off x="292101" y="3060699"/>
            <a:ext cx="11607799" cy="2413001"/>
            <a:chOff x="292101" y="3060699"/>
            <a:chExt cx="11607799" cy="2413001"/>
          </a:xfrm>
        </p:grpSpPr>
        <p:sp>
          <p:nvSpPr>
            <p:cNvPr id="24" name="Блок-схема: процесс 23">
              <a:extLst>
                <a:ext uri="{FF2B5EF4-FFF2-40B4-BE49-F238E27FC236}">
                  <a16:creationId xmlns:a16="http://schemas.microsoft.com/office/drawing/2014/main" id="{9BE41BEF-9CB2-42B3-AD66-07E7A28371AA}"/>
                </a:ext>
              </a:extLst>
            </p:cNvPr>
            <p:cNvSpPr/>
            <p:nvPr/>
          </p:nvSpPr>
          <p:spPr>
            <a:xfrm>
              <a:off x="292101" y="3060699"/>
              <a:ext cx="11607799" cy="2413001"/>
            </a:xfrm>
            <a:prstGeom prst="flowChartProcess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339349AC-4ADD-4658-A82C-BF923F6CF003}"/>
                </a:ext>
              </a:extLst>
            </p:cNvPr>
            <p:cNvGrpSpPr/>
            <p:nvPr/>
          </p:nvGrpSpPr>
          <p:grpSpPr>
            <a:xfrm>
              <a:off x="581354" y="3352799"/>
              <a:ext cx="11029292" cy="1828800"/>
              <a:chOff x="581354" y="3245231"/>
              <a:chExt cx="11029292" cy="1828800"/>
            </a:xfrm>
          </p:grpSpPr>
          <p:sp>
            <p:nvSpPr>
              <p:cNvPr id="7" name="Прямоугольник: скругленные углы 6">
                <a:extLst>
                  <a:ext uri="{FF2B5EF4-FFF2-40B4-BE49-F238E27FC236}">
                    <a16:creationId xmlns:a16="http://schemas.microsoft.com/office/drawing/2014/main" id="{C062F109-2FC6-44C0-BE43-C1ECF103165D}"/>
                  </a:ext>
                </a:extLst>
              </p:cNvPr>
              <p:cNvSpPr/>
              <p:nvPr/>
            </p:nvSpPr>
            <p:spPr>
              <a:xfrm>
                <a:off x="581354" y="3245231"/>
                <a:ext cx="3500582" cy="1828800"/>
              </a:xfrm>
              <a:prstGeom prst="roundRect">
                <a:avLst/>
              </a:prstGeom>
              <a:solidFill>
                <a:srgbClr val="1223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76DEC3B1-EB55-47BB-BEC2-5F720B170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931" y="3719198"/>
                <a:ext cx="2900218" cy="8617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Lost Revenue:</a:t>
                </a:r>
                <a:r>
                  <a:rPr kumimoji="0" lang="pt-PT" altLang="pt-P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$3 684 459.82</a:t>
                </a:r>
                <a:r>
                  <a:rPr kumimoji="0" lang="pt-PT" altLang="pt-PT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9F77AC73-06F3-4049-971E-AFED7FCCA73B}"/>
                  </a:ext>
                </a:extLst>
              </p:cNvPr>
              <p:cNvSpPr/>
              <p:nvPr/>
            </p:nvSpPr>
            <p:spPr>
              <a:xfrm>
                <a:off x="4345709" y="3245231"/>
                <a:ext cx="3500582" cy="1828800"/>
              </a:xfrm>
              <a:prstGeom prst="roundRect">
                <a:avLst/>
              </a:prstGeom>
              <a:solidFill>
                <a:srgbClr val="1223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5382C271-5960-4364-8CC7-6EBA9C088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5709" y="3580698"/>
                <a:ext cx="3500582" cy="11387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ARR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(Annual Run Rate):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$1 669 570.20</a:t>
                </a:r>
                <a:r>
                  <a:rPr kumimoji="0" lang="pt-PT" altLang="pt-PT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1E6BAEAD-58BC-41CB-BCB3-CC2C5D22395B}"/>
                  </a:ext>
                </a:extLst>
              </p:cNvPr>
              <p:cNvSpPr/>
              <p:nvPr/>
            </p:nvSpPr>
            <p:spPr>
              <a:xfrm>
                <a:off x="8110064" y="3245231"/>
                <a:ext cx="3500582" cy="1828800"/>
              </a:xfrm>
              <a:prstGeom prst="roundRect">
                <a:avLst/>
              </a:prstGeom>
              <a:solidFill>
                <a:srgbClr val="12239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539480B6-5EB4-4A5E-8332-9F59DA2AF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3126" y="3580698"/>
                <a:ext cx="3433881" cy="11387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MRR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(Monthly Revenue):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PT" altLang="pt-PT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$139 130.85</a:t>
                </a:r>
                <a:r>
                  <a:rPr kumimoji="0" lang="pt-PT" altLang="pt-PT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6407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трелка: пятиугольник 2">
            <a:extLst>
              <a:ext uri="{FF2B5EF4-FFF2-40B4-BE49-F238E27FC236}">
                <a16:creationId xmlns:a16="http://schemas.microsoft.com/office/drawing/2014/main" id="{C4F352C9-0C27-47E6-8FEB-84BA87E0C60B}"/>
              </a:ext>
            </a:extLst>
          </p:cNvPr>
          <p:cNvSpPr/>
          <p:nvPr/>
        </p:nvSpPr>
        <p:spPr>
          <a:xfrm>
            <a:off x="684212" y="3278222"/>
            <a:ext cx="4331133" cy="379379"/>
          </a:xfrm>
          <a:prstGeom prst="homePlate">
            <a:avLst/>
          </a:prstGeom>
          <a:gradFill flip="none" rotWithShape="1">
            <a:gsLst>
              <a:gs pos="100000">
                <a:srgbClr val="118DFF"/>
              </a:gs>
              <a:gs pos="55000">
                <a:srgbClr val="12239E"/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aseline="-250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C055AE0-2FD6-4451-B2B8-9C359DD7F14F}"/>
              </a:ext>
            </a:extLst>
          </p:cNvPr>
          <p:cNvSpPr txBox="1">
            <a:spLocks/>
          </p:cNvSpPr>
          <p:nvPr/>
        </p:nvSpPr>
        <p:spPr>
          <a:xfrm>
            <a:off x="756782" y="3278222"/>
            <a:ext cx="3524931" cy="37937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390739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</TotalTime>
  <Words>1323</Words>
  <Application>Microsoft Office PowerPoint</Application>
  <PresentationFormat>Широкоэкранный</PresentationFormat>
  <Paragraphs>87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Сектор</vt:lpstr>
      <vt:lpstr>Reducing Customer Churn for an TELCOM</vt:lpstr>
      <vt:lpstr>Demographic churn portrait</vt:lpstr>
      <vt:lpstr>Analysis of the Product Portfolio and Service Quality: INTERNET</vt:lpstr>
      <vt:lpstr>Analysis of the Product Portfolio and Service Quality: ONLINE SECURITY </vt:lpstr>
      <vt:lpstr>Analysis of the Product Portfolio and Service Quality: PREMIUM TECH SUPPORT </vt:lpstr>
      <vt:lpstr>Financial &amp; Contract Churn: CONTRACT TYPE</vt:lpstr>
      <vt:lpstr>Financial &amp; Contract Churn: PAYMENT METHOD</vt:lpstr>
      <vt:lpstr>Financial &amp; Contract Churn: PAPERLESS BILLING</vt:lpstr>
      <vt:lpstr>Financial &amp; Contract Churn: MONTHLY CHARGES (CHURNED VS STAYED)</vt:lpstr>
      <vt:lpstr>ACTUAL AMOUNTS OF FINANCIAL LOSSES (LOST REVENUE)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Customer Churn for an Internet Service Provider</dc:title>
  <dc:creator>Valéry Zonov</dc:creator>
  <cp:lastModifiedBy>Valéry Zonov</cp:lastModifiedBy>
  <cp:revision>73</cp:revision>
  <dcterms:created xsi:type="dcterms:W3CDTF">2026-07-21T10:35:07Z</dcterms:created>
  <dcterms:modified xsi:type="dcterms:W3CDTF">2026-07-22T14:03:22Z</dcterms:modified>
</cp:coreProperties>
</file>